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G H Raisoni College of Engineering and Management, Pune</a:t>
            </a:r>
          </a:p>
          <a:p>
            <a:pPr>
              <a:spcAft>
                <a:spcPts val="2000"/>
              </a:spcAft>
              <a:defRPr sz="2800" b="1">
                <a:solidFill>
                  <a:srgbClr val="182B49"/>
                </a:solidFill>
              </a:defRPr>
            </a:pPr>
            <a:r>
              <a:t>Specialized Motorcycle Fleet Maintenance &amp; Parts Inventory System</a:t>
            </a:r>
          </a:p>
          <a:p>
            <a:pPr>
              <a:spcAft>
                <a:spcPts val="4000"/>
              </a:spcAft>
              <a:defRPr sz="1600">
                <a:solidFill>
                  <a:srgbClr val="0066CC"/>
                </a:solidFill>
              </a:defRPr>
            </a:pPr>
            <a:r>
              <a:t>Phase II: SQL Lifecycle Implementation, Performance Tuning &amp; Defense</a:t>
            </a:r>
          </a:p>
          <a:p>
            <a:pPr>
              <a:defRPr sz="1300">
                <a:solidFill>
                  <a:srgbClr val="182B49"/>
                </a:solidFill>
              </a:defRPr>
            </a:pPr>
            <a:r>
              <a:t>Student Name: Rushikesh Maheshkumar Shingare  |  Roll No: D71</a:t>
            </a:r>
            <a:br/>
            <a:r>
              <a:t>PRN: 25DCDS1101048  |  Class: T.Y. B.Tech CSE (Data Science)</a:t>
            </a:r>
            <a:br/>
            <a:r>
              <a:t>Subject: Database Management Systems (23UDSPCL3508 / 23UDSPCP3508)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TAE 2: DBMS PROJECT IMPLEMENTATION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Slide 1: Domain Overview &amp; TAE 1 Schema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Domain Focus: </a:t>
            </a:r>
            <a:r>
              <a:rPr b="0">
                <a:solidFill>
                  <a:srgbClr val="3C3C3C"/>
                </a:solidFill>
              </a:rPr>
              <a:t>Specialized motorcycle fleet management tracking mileage-based service schedules and high-performance lubricants/spares.</a:t>
            </a:r>
          </a:p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Core Business Problem: </a:t>
            </a:r>
            <a:r>
              <a:rPr b="0">
                <a:solidFill>
                  <a:srgbClr val="3C3C3C"/>
                </a:solidFill>
              </a:rPr>
              <a:t>Manual garage logs create data redundancy, untracked inventory depletion, and missing service histories.</a:t>
            </a:r>
          </a:p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Normalized Entities (BCNF): </a:t>
            </a:r>
            <a:r>
              <a:rPr b="0">
                <a:solidFill>
                  <a:srgbClr val="3C3C3C"/>
                </a:solidFill>
              </a:rPr>
              <a:t>MOTORCYCLE, MECHANIC, PARTS_INVENTORY, SERVICE_RECORD, and SERVICE_LINE_ITEM.</a:t>
            </a:r>
          </a:p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M:N Relationship Resolution: </a:t>
            </a:r>
            <a:r>
              <a:rPr b="0">
                <a:solidFill>
                  <a:srgbClr val="3C3C3C"/>
                </a:solidFill>
              </a:rPr>
              <a:t>The Many-to-Many relationship between Services and Parts is resolved via the associative junction table SERVICE_LINE_ITEM.</a:t>
            </a:r>
          </a:p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Integrity Guarantees: </a:t>
            </a:r>
            <a:r>
              <a:rPr b="0">
                <a:solidFill>
                  <a:srgbClr val="3C3C3C"/>
                </a:solidFill>
              </a:rPr>
              <a:t>Primary Keys, Foreign Keys with ON DELETE CASCADE, CHECK constraints on OdometerReading (&gt;0) and StockQuantity (&gt;=0).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TAE 2: DBMS PROJECT IMPLEMENTATION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Slide 2: System Architecture &amp; Implementation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b="1" sz="1400">
                <a:solidFill>
                  <a:srgbClr val="182B49"/>
                </a:solidFill>
              </a:defRPr>
            </a:pPr>
            <a:r>
              <a:t>• Target RDBMS Engine: </a:t>
            </a:r>
            <a:r>
              <a:rPr b="0">
                <a:solidFill>
                  <a:srgbClr val="3C3C3C"/>
                </a:solidFill>
              </a:rPr>
              <a:t>MySQL 8.0 Community Server utilizing the InnoDB storage engine for ACID compliance and row-level locking.</a:t>
            </a:r>
          </a:p>
          <a:p>
            <a:pPr>
              <a:spcAft>
                <a:spcPts val="1600"/>
              </a:spcAft>
              <a:defRPr b="1" sz="1400">
                <a:solidFill>
                  <a:srgbClr val="182B49"/>
                </a:solidFill>
              </a:defRPr>
            </a:pPr>
            <a:r>
              <a:t>• Development Environment: </a:t>
            </a:r>
            <a:r>
              <a:rPr b="0">
                <a:solidFill>
                  <a:srgbClr val="3C3C3C"/>
                </a:solidFill>
              </a:rPr>
              <a:t>MySQL Workbench 8.0 / MySQL Shell connected to localhost:3306.</a:t>
            </a:r>
          </a:p>
          <a:p>
            <a:pPr>
              <a:spcAft>
                <a:spcPts val="1600"/>
              </a:spcAft>
              <a:defRPr b="1" sz="1400">
                <a:solidFill>
                  <a:srgbClr val="182B49"/>
                </a:solidFill>
              </a:defRPr>
            </a:pPr>
            <a:r>
              <a:t>• Data Generation Strategy: </a:t>
            </a:r>
            <a:r>
              <a:rPr b="0">
                <a:solidFill>
                  <a:srgbClr val="3C3C3C"/>
                </a:solidFill>
              </a:rPr>
              <a:t>Python Faker script generating 100+ compliant rows per entity (150 Motorcycles, 100 Mechanics, 120 Parts, 400 Services).</a:t>
            </a:r>
          </a:p>
          <a:p>
            <a:pPr>
              <a:spcAft>
                <a:spcPts val="1600"/>
              </a:spcAft>
              <a:defRPr b="1" sz="1400">
                <a:solidFill>
                  <a:srgbClr val="182B49"/>
                </a:solidFill>
              </a:defRPr>
            </a:pPr>
            <a:r>
              <a:t>• Referential Integrity Topology: </a:t>
            </a:r>
            <a:r>
              <a:rPr b="0">
                <a:solidFill>
                  <a:srgbClr val="3C3C3C"/>
                </a:solidFill>
              </a:rPr>
              <a:t>Strict referential integrity with CASCADE triggers ensuring zero orphaned records upon service cancellation.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TAE 2: DBMS PROJECT IMPLEMENTATION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Slide 3: Advanced SQL Artifacts &amp; 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b="1" sz="1400">
                <a:solidFill>
                  <a:srgbClr val="182B49"/>
                </a:solidFill>
              </a:defRPr>
            </a:pPr>
            <a:r>
              <a:t>• Database Views: </a:t>
            </a:r>
            <a:r>
              <a:rPr b="0">
                <a:solidFill>
                  <a:srgbClr val="3C3C3C"/>
                </a:solidFill>
              </a:rPr>
              <a:t>vw_low_stock_alerts (flags parts where stock &lt; 50) and vw_mechanic_revenue (aggregates revenue generated per mechanic).</a:t>
            </a:r>
          </a:p>
          <a:p>
            <a:pPr>
              <a:spcAft>
                <a:spcPts val="1600"/>
              </a:spcAft>
              <a:defRPr b="1" sz="1400">
                <a:solidFill>
                  <a:srgbClr val="182B49"/>
                </a:solidFill>
              </a:defRPr>
            </a:pPr>
            <a:r>
              <a:t>• Automated Trigger: </a:t>
            </a:r>
            <a:r>
              <a:rPr b="0">
                <a:solidFill>
                  <a:srgbClr val="3C3C3C"/>
                </a:solidFill>
              </a:rPr>
              <a:t>trg_deduct_inventory (AFTER INSERT on SERVICE_LINE_ITEM) atomically decrements PARTS_INVENTORY.StockQuantity.</a:t>
            </a:r>
          </a:p>
          <a:p>
            <a:pPr>
              <a:spcAft>
                <a:spcPts val="1600"/>
              </a:spcAft>
              <a:defRPr b="1" sz="1400">
                <a:solidFill>
                  <a:srgbClr val="182B49"/>
                </a:solidFill>
              </a:defRPr>
            </a:pPr>
            <a:r>
              <a:t>• Stored Procedure: </a:t>
            </a:r>
            <a:r>
              <a:rPr b="0">
                <a:solidFill>
                  <a:srgbClr val="3C3C3C"/>
                </a:solidFill>
              </a:rPr>
              <a:t>sp_LogNewService encapsulates transaction parameters, creates a service row, and returns the generated ServiceID.</a:t>
            </a:r>
          </a:p>
          <a:p>
            <a:pPr>
              <a:spcAft>
                <a:spcPts val="1600"/>
              </a:spcAft>
              <a:defRPr b="1" sz="1400">
                <a:solidFill>
                  <a:srgbClr val="182B49"/>
                </a:solidFill>
              </a:defRPr>
            </a:pPr>
            <a:r>
              <a:t>• Multi-Table JOINs &amp; Subqueries: </a:t>
            </a:r>
            <a:r>
              <a:rPr b="0">
                <a:solidFill>
                  <a:srgbClr val="3C3C3C"/>
                </a:solidFill>
              </a:rPr>
              <a:t>5-table INNER JOIN invoice breakdown alongside correlated subqueries identifying services above average model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TAE 2: DBMS PROJECT IMPLEMENTATION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Slide 4: Query Optimization &amp; EXPLAIN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Benchmark Query 1: </a:t>
            </a:r>
            <a:r>
              <a:rPr b="0">
                <a:solidFill>
                  <a:srgbClr val="3C3C3C"/>
                </a:solidFill>
              </a:rPr>
              <a:t>SELECT * FROM SERVICE_RECORD WHERE OdometerReading &gt; 40000 AND TotalCost &gt; 5000;</a:t>
            </a:r>
          </a:p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Before Indexing: </a:t>
            </a:r>
            <a:r>
              <a:rPr b="0">
                <a:solidFill>
                  <a:srgbClr val="3C3C3C"/>
                </a:solidFill>
              </a:rPr>
              <a:t>Plan shows type: ALL (Full Table Scan), scanning all 400+ rows sequentially.</a:t>
            </a:r>
          </a:p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Optimization: </a:t>
            </a:r>
            <a:r>
              <a:rPr b="0">
                <a:solidFill>
                  <a:srgbClr val="3C3C3C"/>
                </a:solidFill>
              </a:rPr>
              <a:t>Created composite B-Tree index: CREATE INDEX idx_odo_cost ON SERVICE_RECORD(OdometerReading, TotalCost);</a:t>
            </a:r>
          </a:p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After Indexing: </a:t>
            </a:r>
            <a:r>
              <a:rPr b="0">
                <a:solidFill>
                  <a:srgbClr val="3C3C3C"/>
                </a:solidFill>
              </a:rPr>
              <a:t>Plan shows type: range, cutting scanned rows down from 400+ to matching leaf nodes instantly.</a:t>
            </a:r>
          </a:p>
          <a:p>
            <a:pPr>
              <a:spcAft>
                <a:spcPts val="1400"/>
              </a:spcAft>
              <a:defRPr b="1" sz="1400">
                <a:solidFill>
                  <a:srgbClr val="182B49"/>
                </a:solidFill>
              </a:defRPr>
            </a:pPr>
            <a:r>
              <a:t>• Benchmark Query 2: </a:t>
            </a:r>
            <a:r>
              <a:rPr b="0">
                <a:solidFill>
                  <a:srgbClr val="3C3C3C"/>
                </a:solidFill>
              </a:rPr>
              <a:t>Created composite index idx_brand_grade ON PARTS_INVENTORY(Brand, Grade) converting an ALL scan to ref.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